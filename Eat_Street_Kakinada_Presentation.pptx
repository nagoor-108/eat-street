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  <a:latin typeface="Segoe UI"/>
              </a:defRPr>
            </a:pPr>
            <a:r>
              <a:t>Eat Street Kakinada • AI-Powered Multi-Vendor Marketplace • Confidential &amp; Proprietary</a:t>
            </a:r>
          </a:p>
        </p:txBody>
      </p:sp>
      <p:pic>
        <p:nvPicPr>
          <p:cNvPr id="5" name="Picture 4" descr="eat-street-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50292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731520"/>
            <a:ext cx="5029200" cy="5303520"/>
          </a:xfrm>
          <a:prstGeom prst="rect">
            <a:avLst/>
          </a:prstGeom>
          <a:noFill/>
          <a:ln w="25400">
            <a:solidFill>
              <a:srgbClr val="FF3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Segoe UI"/>
              </a:defRPr>
            </a:pPr>
            <a:r>
              <a:t>🍴 EAT STREET KAKINADA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AI-Powered Smart Food Court &amp; Multi-Vendor Marketplace</a:t>
            </a:r>
          </a:p>
          <a:p>
            <a:pPr>
              <a:spcAft>
                <a:spcPts val="2000"/>
              </a:spcAft>
              <a:defRPr sz="1200">
                <a:solidFill>
                  <a:srgbClr val="AAB4C3"/>
                </a:solidFill>
                <a:latin typeface="Segoe UI"/>
              </a:defRPr>
            </a:pPr>
            <a:r>
              <a:t>A modern unified digital platform connecting food lovers with Kakinada's premier street food stalls, featuring Home Delivery, Takeaway, Smart Dine-In Table Booking, and a Tri-Lingual AI Food Concierge.</a:t>
            </a:r>
          </a:p>
          <a:p>
            <a:pPr>
              <a:defRPr sz="1100" b="1">
                <a:solidFill>
                  <a:srgbClr val="FFAA00"/>
                </a:solidFill>
                <a:latin typeface="Segoe UI"/>
              </a:defRPr>
            </a:pPr>
            <a:r>
              <a:t>🔥 Multi-Vendor Commerce   •   🤖 Llama-3 Multilingual AI   •   🛡️ Live SMTP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3B00"/>
                </a:solidFill>
                <a:latin typeface="Segoe UI"/>
              </a:defRPr>
            </a:pPr>
            <a:r>
              <a:t>01. INTRODUCTION &amp; PROBLEM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Executive Summary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  <a:latin typeface="Segoe UI"/>
              </a:defRPr>
            </a:pPr>
            <a:r>
              <a:t>Eat Street Kakinada • AI-Powered Multi-Vendor Marketplace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Segoe UI"/>
              </a:defRPr>
            </a:pPr>
            <a:r>
              <a:t>The Street Food Dilemma 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• Long Queues &amp; Peak Hour Rush: </a:t>
            </a:r>
            <a:r>
              <a:rPr b="0" sz="1000">
                <a:solidFill>
                  <a:srgbClr val="AAB4C3"/>
                </a:solidFill>
              </a:rPr>
              <a:t>Customers face 30-45 minute waiting times at busy street stalls with manual paper-token disorder.</a:t>
            </a:r>
          </a:p>
          <a:p>
            <a:pPr>
              <a:spcAft>
                <a:spcPts val="8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• No Multi-Stall Unified Cart: </a:t>
            </a:r>
            <a:r>
              <a:rPr b="0" sz="1000">
                <a:solidFill>
                  <a:srgbClr val="AAB4C3"/>
                </a:solidFill>
              </a:rPr>
              <a:t>Ordering from 3 different stalls requires standing in 3 separate queues and paying 3 times.</a:t>
            </a:r>
          </a:p>
          <a:p>
            <a:pPr>
              <a:spcAft>
                <a:spcPts val="8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• Lack of Table Booking System: </a:t>
            </a:r>
            <a:r>
              <a:rPr b="0" sz="1000">
                <a:solidFill>
                  <a:srgbClr val="AAB4C3"/>
                </a:solidFill>
              </a:rPr>
              <a:t>Dine-in visitors struggle to find seating during evening peak hours without reservations.</a:t>
            </a:r>
          </a:p>
          <a:p>
            <a:pPr>
              <a:spcAft>
                <a:spcPts val="8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• Language &amp; Discoverability Barriers: </a:t>
            </a:r>
            <a:r>
              <a:rPr b="0" sz="1000">
                <a:solidFill>
                  <a:srgbClr val="AAB4C3"/>
                </a:solidFill>
              </a:rPr>
              <a:t>Tourists and locals struggle to discover specialty dishes, dietary tags (Veg/Halal), and stall specials.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Segoe UI"/>
              </a:defRPr>
            </a:pPr>
            <a:r>
              <a:t>The Eat Street Solution 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0E676"/>
                </a:solidFill>
                <a:latin typeface="Segoe UI"/>
              </a:defRPr>
            </a:pPr>
            <a:r>
              <a:t>✔ Unified Multi-Vendor Digital Marketplace: </a:t>
            </a:r>
            <a:r>
              <a:rPr b="0" sz="1000">
                <a:solidFill>
                  <a:srgbClr val="AAB4C3"/>
                </a:solidFill>
              </a:rPr>
              <a:t>Single cart checkout across all 10 Kakinada street food vendors with automated commission splitting.</a:t>
            </a:r>
          </a:p>
          <a:p>
            <a:pPr>
              <a:spcAft>
                <a:spcPts val="800"/>
              </a:spcAft>
              <a:defRPr b="1" sz="1100">
                <a:solidFill>
                  <a:srgbClr val="00E676"/>
                </a:solidFill>
                <a:latin typeface="Segoe UI"/>
              </a:defRPr>
            </a:pPr>
            <a:r>
              <a:t>✔ Tri-Mode Fulfillment Flexibility: </a:t>
            </a:r>
            <a:r>
              <a:rPr b="0" sz="1000">
                <a:solidFill>
                  <a:srgbClr val="AAB4C3"/>
                </a:solidFill>
              </a:rPr>
              <a:t>Seamless choice between GPS-tracked Home Delivery, Express Takeaway counter pickup, or QR Dine-in Table booking.</a:t>
            </a:r>
          </a:p>
          <a:p>
            <a:pPr>
              <a:spcAft>
                <a:spcPts val="800"/>
              </a:spcAft>
              <a:defRPr b="1" sz="1100">
                <a:solidFill>
                  <a:srgbClr val="00E676"/>
                </a:solidFill>
                <a:latin typeface="Segoe UI"/>
              </a:defRPr>
            </a:pPr>
            <a:r>
              <a:t>✔ Multilingual AI Food Assistant (Llama-3): </a:t>
            </a:r>
            <a:r>
              <a:rPr b="0" sz="1000">
                <a:solidFill>
                  <a:srgbClr val="AAB4C3"/>
                </a:solidFill>
              </a:rPr>
              <a:t>Instant menu recommendations in Telugu (తెలుగు), Hindi (हिंदी), and English with live inventory verification.</a:t>
            </a:r>
          </a:p>
          <a:p>
            <a:pPr>
              <a:spcAft>
                <a:spcPts val="800"/>
              </a:spcAft>
              <a:defRPr b="1" sz="1100">
                <a:solidFill>
                  <a:srgbClr val="00E676"/>
                </a:solidFill>
                <a:latin typeface="Segoe UI"/>
              </a:defRPr>
            </a:pPr>
            <a:r>
              <a:t>✔ Enterprise-Grade Security &amp; OTP: </a:t>
            </a:r>
            <a:r>
              <a:rPr b="0" sz="1000">
                <a:solidFill>
                  <a:srgbClr val="AAB4C3"/>
                </a:solidFill>
              </a:rPr>
              <a:t>Bcrypt hashing, brute-force security lockouts, and live Gmail SMTP email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3B00"/>
                </a:solidFill>
                <a:latin typeface="Segoe UI"/>
              </a:defRPr>
            </a:pPr>
            <a:r>
              <a:t>02. VENDOR ECOSYSTEM &amp; 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Multi-Vendor Marketplace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  <a:latin typeface="Segoe UI"/>
              </a:defRPr>
            </a:pPr>
            <a:r>
              <a:t>Eat Street Kakinada • AI-Powered Multi-Vendor Marketplace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1874519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p_biryani_ho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100584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65960" y="1481328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3B00"/>
                </a:solidFill>
                <a:latin typeface="Segoe UI"/>
              </a:defRPr>
            </a:pPr>
            <a:r>
              <a:t>Biryani House (ES001)</a:t>
            </a:r>
          </a:p>
          <a:p>
            <a:pPr>
              <a:defRPr sz="900">
                <a:solidFill>
                  <a:srgbClr val="AAB4C3"/>
                </a:solidFill>
                <a:latin typeface="Segoe UI"/>
              </a:defRPr>
            </a:pPr>
            <a:r>
              <a:t>Dum Biryani, Mutton Biryani, Chicken 65</a:t>
            </a:r>
          </a:p>
          <a:p>
            <a:pPr>
              <a:defRPr sz="850" b="1">
                <a:solidFill>
                  <a:srgbClr val="00D2FF"/>
                </a:solidFill>
                <a:latin typeface="Segoe UI"/>
              </a:defRPr>
            </a:pPr>
            <a:r>
              <a:t>⚡ Live Orders Sync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383280" cy="1874519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p_bullet_bb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08760"/>
            <a:ext cx="100584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32120" y="1481328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3B00"/>
                </a:solidFill>
                <a:latin typeface="Segoe UI"/>
              </a:defRPr>
            </a:pPr>
            <a:r>
              <a:t>Bullet BBQ (ES002)</a:t>
            </a:r>
          </a:p>
          <a:p>
            <a:pPr>
              <a:defRPr sz="900">
                <a:solidFill>
                  <a:srgbClr val="AAB4C3"/>
                </a:solidFill>
                <a:latin typeface="Segoe UI"/>
              </a:defRPr>
            </a:pPr>
            <a:r>
              <a:t>Smoked Wings, BBQ Platters, Malai Tikka</a:t>
            </a:r>
          </a:p>
          <a:p>
            <a:pPr>
              <a:defRPr sz="850" b="1">
                <a:solidFill>
                  <a:srgbClr val="00D2FF"/>
                </a:solidFill>
                <a:latin typeface="Segoe UI"/>
              </a:defRPr>
            </a:pPr>
            <a:r>
              <a:t>⚡ Live Orders Sync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371600"/>
            <a:ext cx="3383280" cy="1874519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op_shawarma_stre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508760"/>
            <a:ext cx="1005840" cy="1005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98280" y="1481328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3B00"/>
                </a:solidFill>
                <a:latin typeface="Segoe UI"/>
              </a:defRPr>
            </a:pPr>
            <a:r>
              <a:t>Shawarma Street (ES003)</a:t>
            </a:r>
          </a:p>
          <a:p>
            <a:pPr>
              <a:defRPr sz="900">
                <a:solidFill>
                  <a:srgbClr val="AAB4C3"/>
                </a:solidFill>
                <a:latin typeface="Segoe UI"/>
              </a:defRPr>
            </a:pPr>
            <a:r>
              <a:t>Chicken Shawarma, Paneer Rolls, Platters</a:t>
            </a:r>
          </a:p>
          <a:p>
            <a:pPr>
              <a:defRPr sz="850" b="1">
                <a:solidFill>
                  <a:srgbClr val="00D2FF"/>
                </a:solidFill>
                <a:latin typeface="Segoe UI"/>
              </a:defRPr>
            </a:pPr>
            <a:r>
              <a:t>⚡ Live Orders 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3383280" cy="1874519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op_chaat_cha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520440"/>
            <a:ext cx="1005840" cy="10058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965960" y="3493008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3B00"/>
                </a:solidFill>
                <a:latin typeface="Segoe UI"/>
              </a:defRPr>
            </a:pPr>
            <a:r>
              <a:t>Chaat Chat (ES004)</a:t>
            </a:r>
          </a:p>
          <a:p>
            <a:pPr>
              <a:defRPr sz="900">
                <a:solidFill>
                  <a:srgbClr val="AAB4C3"/>
                </a:solidFill>
                <a:latin typeface="Segoe UI"/>
              </a:defRPr>
            </a:pPr>
            <a:r>
              <a:t>Pani Puri, Sev Puri, Bhel, Chole Bhature</a:t>
            </a:r>
          </a:p>
          <a:p>
            <a:pPr>
              <a:defRPr sz="850" b="1">
                <a:solidFill>
                  <a:srgbClr val="00D2FF"/>
                </a:solidFill>
                <a:latin typeface="Segoe UI"/>
              </a:defRPr>
            </a:pPr>
            <a:r>
              <a:t>⚡ Live Orders Sync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383280"/>
            <a:ext cx="3383280" cy="1874519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hop_momos_mor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520440"/>
            <a:ext cx="100584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32120" y="3493008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3B00"/>
                </a:solidFill>
                <a:latin typeface="Segoe UI"/>
              </a:defRPr>
            </a:pPr>
            <a:r>
              <a:t>Momos &amp; More (ES005)</a:t>
            </a:r>
          </a:p>
          <a:p>
            <a:pPr>
              <a:defRPr sz="900">
                <a:solidFill>
                  <a:srgbClr val="AAB4C3"/>
                </a:solidFill>
                <a:latin typeface="Segoe UI"/>
              </a:defRPr>
            </a:pPr>
            <a:r>
              <a:t>Steamed &amp; Fried Momos, Tandoori Momos</a:t>
            </a:r>
          </a:p>
          <a:p>
            <a:pPr>
              <a:defRPr sz="850" b="1">
                <a:solidFill>
                  <a:srgbClr val="00D2FF"/>
                </a:solidFill>
                <a:latin typeface="Segoe UI"/>
              </a:defRPr>
            </a:pPr>
            <a:r>
              <a:t>⚡ Live Orders Sync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383280"/>
            <a:ext cx="3383280" cy="1874519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op_waffle_worl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3520440"/>
            <a:ext cx="1005840" cy="10058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98280" y="3493008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3B00"/>
                </a:solidFill>
                <a:latin typeface="Segoe UI"/>
              </a:defRPr>
            </a:pPr>
            <a:r>
              <a:t>Waffle World (ES006)</a:t>
            </a:r>
          </a:p>
          <a:p>
            <a:pPr>
              <a:defRPr sz="900">
                <a:solidFill>
                  <a:srgbClr val="AAB4C3"/>
                </a:solidFill>
                <a:latin typeface="Segoe UI"/>
              </a:defRPr>
            </a:pPr>
            <a:r>
              <a:t>Belgian Waffles, Oreo Shakes, Ice Creams</a:t>
            </a:r>
          </a:p>
          <a:p>
            <a:pPr>
              <a:defRPr sz="850" b="1">
                <a:solidFill>
                  <a:srgbClr val="00D2FF"/>
                </a:solidFill>
                <a:latin typeface="Segoe UI"/>
              </a:defRPr>
            </a:pPr>
            <a:r>
              <a:t>⚡ Live Orders Sync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FF3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Segoe UI"/>
              </a:defRPr>
            </a:pPr>
            <a:r>
              <a:t>📊 Key Marketplace Metrics: 10 Verified Kakinada Food Stalls  |  70+ Curated Menu Items  |  15% Platform Commission  |  Automated Splitting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3B00"/>
                </a:solidFill>
                <a:latin typeface="Segoe UI"/>
              </a:defRPr>
            </a:pPr>
            <a:r>
              <a:t>03. FULFILLMENT &amp; DINE-IN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Tri-Mode Ordering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  <a:latin typeface="Segoe UI"/>
              </a:defRPr>
            </a:pPr>
            <a:r>
              <a:t>Eat Street Kakinada • AI-Powered Multi-Vendor Marketplace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74720" cy="594360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00000"/>
                </a:solidFill>
                <a:latin typeface="Segoe UI"/>
              </a:defRPr>
            </a:pPr>
            <a:r>
              <a:t>1. Home Delivery 🛵</a:t>
            </a:r>
          </a:p>
        </p:txBody>
      </p:sp>
      <p:pic>
        <p:nvPicPr>
          <p:cNvPr id="10" name="Picture 9" descr="clean_birya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92608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069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AB4C3"/>
                </a:solidFill>
                <a:latin typeface="Segoe UI"/>
              </a:defRPr>
            </a:pPr>
            <a:r>
              <a:t>GPS mapped delivery with automated distance calculation, driver dispatching, live order status tracker, and contact-free delivery options.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47472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3474720" cy="594360"/>
          </a:xfrm>
          <a:prstGeom prst="round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6304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Segoe UI"/>
              </a:defRPr>
            </a:pPr>
            <a:r>
              <a:t>2. Express Takeaway 🛍️</a:t>
            </a:r>
          </a:p>
        </p:txBody>
      </p:sp>
      <p:pic>
        <p:nvPicPr>
          <p:cNvPr id="15" name="Picture 14" descr="clean_pizza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103120"/>
            <a:ext cx="292608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26280" y="4069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AB4C3"/>
                </a:solidFill>
                <a:latin typeface="Segoe UI"/>
              </a:defRPr>
            </a:pPr>
            <a:r>
              <a:t>Pre-order food before reaching Eat Street. Real-time preparation timers, digital token generation, and zero-wait counter pickups.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371600"/>
            <a:ext cx="347472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80" y="1371600"/>
            <a:ext cx="3474720" cy="59436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46304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00000"/>
                </a:solidFill>
                <a:latin typeface="Segoe UI"/>
              </a:defRPr>
            </a:pPr>
            <a:r>
              <a:t>3. Smart Dine-In &amp; Table Booking 🍽️</a:t>
            </a:r>
          </a:p>
        </p:txBody>
      </p:sp>
      <p:pic>
        <p:nvPicPr>
          <p:cNvPr id="20" name="Picture 19" descr="clean_bhatu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103120"/>
            <a:ext cx="2926080" cy="1828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38160" y="40690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AB4C3"/>
                </a:solidFill>
                <a:latin typeface="Segoe UI"/>
              </a:defRPr>
            </a:pPr>
            <a:r>
              <a:t>Interactive table selection (indoor / outdoor / family cabana), instant QR table booking, pre-ordering items, and bill settlement before arrival.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3B00"/>
                </a:solidFill>
                <a:latin typeface="Segoe UI"/>
              </a:defRPr>
            </a:pPr>
            <a:r>
              <a:t>04. ARTIFICIAL INTELLIGENCE &amp; LLM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Multilingual AI Food Concierge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  <a:latin typeface="Segoe UI"/>
              </a:defRPr>
            </a:pPr>
            <a:r>
              <a:t>Eat Street Kakinada • AI-Powered Multi-Vendor Marketplace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48640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Segoe UI"/>
              </a:defRPr>
            </a:pPr>
            <a:r>
              <a:t>Llama-3 Powered Neural Assistant 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0D2FF"/>
                </a:solidFill>
                <a:latin typeface="Segoe UI"/>
              </a:defRPr>
            </a:pPr>
            <a:r>
              <a:t>✨ Tri-Lingual Natural Language Processing: </a:t>
            </a:r>
            <a:r>
              <a:rPr b="0" sz="1000">
                <a:solidFill>
                  <a:srgbClr val="AAB4C3"/>
                </a:solidFill>
              </a:rPr>
              <a:t>Seamlessly communicates in Telugu (తెలుగు), Hindi (हिंदी), and English with automatic language detection.</a:t>
            </a:r>
          </a:p>
          <a:p>
            <a:pPr>
              <a:spcAft>
                <a:spcPts val="800"/>
              </a:spcAft>
              <a:defRPr b="1" sz="1100">
                <a:solidFill>
                  <a:srgbClr val="00D2FF"/>
                </a:solidFill>
                <a:latin typeface="Segoe UI"/>
              </a:defRPr>
            </a:pPr>
            <a:r>
              <a:t>✨ Live Inventory &amp; Availability Validation: </a:t>
            </a:r>
            <a:r>
              <a:rPr b="0" sz="1000">
                <a:solidFill>
                  <a:srgbClr val="AAB4C3"/>
                </a:solidFill>
              </a:rPr>
              <a:t>Queries live shop inventory so it never recommends out-of-stock dishes or closed stalls.</a:t>
            </a:r>
          </a:p>
          <a:p>
            <a:pPr>
              <a:spcAft>
                <a:spcPts val="800"/>
              </a:spcAft>
              <a:defRPr b="1" sz="1100">
                <a:solidFill>
                  <a:srgbClr val="00D2FF"/>
                </a:solidFill>
                <a:latin typeface="Segoe UI"/>
              </a:defRPr>
            </a:pPr>
            <a:r>
              <a:t>✨ Smart Dietary &amp; Taste Filter Engine: </a:t>
            </a:r>
            <a:r>
              <a:rPr b="0" sz="1000">
                <a:solidFill>
                  <a:srgbClr val="AAB4C3"/>
                </a:solidFill>
              </a:rPr>
              <a:t>Understands queries like 'Spicy non-veg starters under ₹200' or 'Kids sweet dessert without nuts'.</a:t>
            </a:r>
          </a:p>
          <a:p>
            <a:pPr>
              <a:spcAft>
                <a:spcPts val="800"/>
              </a:spcAft>
              <a:defRPr b="1" sz="1100">
                <a:solidFill>
                  <a:srgbClr val="00D2FF"/>
                </a:solidFill>
                <a:latin typeface="Segoe UI"/>
              </a:defRPr>
            </a:pPr>
            <a:r>
              <a:t>✨ Dual Hybrid Inference Architecture: </a:t>
            </a:r>
            <a:r>
              <a:rPr b="0" sz="1000">
                <a:solidFill>
                  <a:srgbClr val="AAB4C3"/>
                </a:solidFill>
              </a:rPr>
              <a:t>Primary: Local Meta Llama-3 via Ollama; Fallback: Rule-based fast semantic intent matcher for zero-latency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371600"/>
            <a:ext cx="493776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Segoe UI"/>
              </a:defRPr>
            </a:pPr>
            <a:r>
              <a:t>Live Chatbot Conversations 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AA00"/>
                </a:solidFill>
                <a:latin typeface="Segoe UI"/>
              </a:defRPr>
            </a:pPr>
            <a:r>
              <a:t>[Telugu Prompt 🇮🇳]</a:t>
            </a:r>
            <a:br/>
            <a:r>
              <a:rPr b="0" sz="950">
                <a:solidFill>
                  <a:srgbClr val="AAB4C3"/>
                </a:solidFill>
              </a:rPr>
              <a:t>User: 'Kakinada lo best chicken biryani ekkada dhorukuthundhi?'
AI: 'Biryani House (Stall 1) lo Chicken Dum Biryani (₹220) &amp; Boneless Biryani chala popular and available ga unnay!'</a:t>
            </a:r>
          </a:p>
          <a:p>
            <a:pPr>
              <a:spcAft>
                <a:spcPts val="1000"/>
              </a:spcAft>
              <a:defRPr b="1" sz="1050">
                <a:solidFill>
                  <a:srgbClr val="FFAA00"/>
                </a:solidFill>
                <a:latin typeface="Segoe UI"/>
              </a:defRPr>
            </a:pPr>
            <a:r>
              <a:t>[Hindi Prompt 🇮🇳]</a:t>
            </a:r>
            <a:br/>
            <a:r>
              <a:rPr b="0" sz="950">
                <a:solidFill>
                  <a:srgbClr val="AAB4C3"/>
                </a:solidFill>
              </a:rPr>
              <a:t>User: 'Mujhe kuch spicy chicken starter recommend karo'
AI: 'Bullet BBQ se Peri Peri Wings (₹180) aur Chicken 65 try kijiye, dono fresh aur available hain!'</a:t>
            </a:r>
          </a:p>
          <a:p>
            <a:pPr>
              <a:spcAft>
                <a:spcPts val="1000"/>
              </a:spcAft>
              <a:defRPr b="1" sz="1050">
                <a:solidFill>
                  <a:srgbClr val="FFAA00"/>
                </a:solidFill>
                <a:latin typeface="Segoe UI"/>
              </a:defRPr>
            </a:pPr>
            <a:r>
              <a:t>[English Prompt 🌐]</a:t>
            </a:r>
            <a:br/>
            <a:r>
              <a:rPr b="0" sz="950">
                <a:solidFill>
                  <a:srgbClr val="AAB4C3"/>
                </a:solidFill>
              </a:rPr>
              <a:t>User: 'I want a dessert under 150 rupees'
AI: 'Waffle World offers Belgian Chocolate Waffle for ₹140 and Oreo Shakes for ₹120!'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3B00"/>
                </a:solidFill>
                <a:latin typeface="Segoe UI"/>
              </a:defRPr>
            </a:pPr>
            <a:r>
              <a:t>05. PLATFORM SECURITY &amp; EMAIL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Authentication, Security &amp; Live Gmail SMTP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  <a:latin typeface="Segoe UI"/>
              </a:defRPr>
            </a:pPr>
            <a:r>
              <a:t>Eat Street Kakinada • AI-Powered Multi-Vendor Marketplace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Segoe UI"/>
              </a:defRPr>
            </a:pPr>
            <a:r>
              <a:t>Live Gmail SMTP OTP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AAB4C3"/>
                </a:solidFill>
                <a:latin typeface="Segoe UI"/>
              </a:defRPr>
            </a:pPr>
            <a:r>
              <a:t>• Real-time 6-digit cryptographic OTP generation with 10-minute expiry.</a:t>
            </a:r>
          </a:p>
          <a:p>
            <a:pPr>
              <a:spcAft>
                <a:spcPts val="800"/>
              </a:spcAft>
              <a:defRPr sz="1000">
                <a:solidFill>
                  <a:srgbClr val="AAB4C3"/>
                </a:solidFill>
                <a:latin typeface="Segoe UI"/>
              </a:defRPr>
            </a:pPr>
            <a:r>
              <a:t>• Dispatched via Google App Passwords over TLS (smtp.gmail.com:587).</a:t>
            </a:r>
          </a:p>
          <a:p>
            <a:pPr>
              <a:spcAft>
                <a:spcPts val="800"/>
              </a:spcAft>
              <a:defRPr sz="1000">
                <a:solidFill>
                  <a:srgbClr val="AAB4C3"/>
                </a:solidFill>
                <a:latin typeface="Segoe UI"/>
              </a:defRPr>
            </a:pPr>
            <a:r>
              <a:t>• Auto-formatted responsive HTML email template with dark brand styling.</a:t>
            </a:r>
          </a:p>
          <a:p>
            <a:pPr>
              <a:spcAft>
                <a:spcPts val="800"/>
              </a:spcAft>
              <a:defRPr sz="1000">
                <a:solidFill>
                  <a:srgbClr val="AAB4C3"/>
                </a:solidFill>
                <a:latin typeface="Segoe UI"/>
              </a:defRPr>
            </a:pPr>
            <a:r>
              <a:t>• Dynamic .env reload mechanism with password space sanitization.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47472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Segoe UI"/>
              </a:defRPr>
            </a:pPr>
            <a:r>
              <a:t>Brute-Force &amp; Bot Mitigation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AAB4C3"/>
                </a:solidFill>
                <a:latin typeface="Segoe UI"/>
              </a:defRPr>
            </a:pPr>
            <a:r>
              <a:t>• IP &amp; Account Lockout: 5 failed attempts trigger a 5-minute cooldown.</a:t>
            </a:r>
          </a:p>
          <a:p>
            <a:pPr>
              <a:spcAft>
                <a:spcPts val="800"/>
              </a:spcAft>
              <a:defRPr sz="1000">
                <a:solidFill>
                  <a:srgbClr val="AAB4C3"/>
                </a:solidFill>
                <a:latin typeface="Segoe UI"/>
              </a:defRPr>
            </a:pPr>
            <a:r>
              <a:t>• Honeypot anti-bot form traps to block automated submission scripts.</a:t>
            </a:r>
          </a:p>
          <a:p>
            <a:pPr>
              <a:spcAft>
                <a:spcPts val="800"/>
              </a:spcAft>
              <a:defRPr sz="1000">
                <a:solidFill>
                  <a:srgbClr val="AAB4C3"/>
                </a:solidFill>
                <a:latin typeface="Segoe UI"/>
              </a:defRPr>
            </a:pPr>
            <a:r>
              <a:t>• Mathematical dynamic CAPTCHA challenges during suspicious traffic.</a:t>
            </a:r>
          </a:p>
          <a:p>
            <a:pPr>
              <a:spcAft>
                <a:spcPts val="800"/>
              </a:spcAft>
              <a:defRPr sz="1000">
                <a:solidFill>
                  <a:srgbClr val="AAB4C3"/>
                </a:solidFill>
                <a:latin typeface="Segoe UI"/>
              </a:defRPr>
            </a:pPr>
            <a:r>
              <a:t>• Timing-attack resistant Bcrypt password hashing (dummy hash verification).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47472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Segoe UI"/>
              </a:defRPr>
            </a:pPr>
            <a:r>
              <a:t>Session &amp; Data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AAB4C3"/>
                </a:solidFill>
                <a:latin typeface="Segoe UI"/>
              </a:defRPr>
            </a:pPr>
            <a:r>
              <a:t>• HTTP-Only, SameSite='Lax' secure session cookies.</a:t>
            </a:r>
          </a:p>
          <a:p>
            <a:pPr>
              <a:spcAft>
                <a:spcPts val="800"/>
              </a:spcAft>
              <a:defRPr sz="1000">
                <a:solidFill>
                  <a:srgbClr val="AAB4C3"/>
                </a:solidFill>
                <a:latin typeface="Segoe UI"/>
              </a:defRPr>
            </a:pPr>
            <a:r>
              <a:t>• CSRF Token validation on all state-altering POST forms.</a:t>
            </a:r>
          </a:p>
          <a:p>
            <a:pPr>
              <a:spcAft>
                <a:spcPts val="800"/>
              </a:spcAft>
              <a:defRPr sz="1000">
                <a:solidFill>
                  <a:srgbClr val="AAB4C3"/>
                </a:solidFill>
                <a:latin typeface="Segoe UI"/>
              </a:defRPr>
            </a:pPr>
            <a:r>
              <a:t>• SQLAlchemy ORM parameterized queries preventing SQL Injection.</a:t>
            </a:r>
          </a:p>
          <a:p>
            <a:pPr>
              <a:spcAft>
                <a:spcPts val="800"/>
              </a:spcAft>
              <a:defRPr sz="1000">
                <a:solidFill>
                  <a:srgbClr val="AAB4C3"/>
                </a:solidFill>
                <a:latin typeface="Segoe UI"/>
              </a:defRPr>
            </a:pPr>
            <a:r>
              <a:t>• Role-based access control (RBAC): Customer, Vendor, and Super Admin.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3B00"/>
                </a:solidFill>
                <a:latin typeface="Segoe UI"/>
              </a:defRPr>
            </a:pPr>
            <a:r>
              <a:t>06. VENDOR MANAGEMENT &amp; LIVE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Vendor Partner Dashboard &amp;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  <a:latin typeface="Segoe UI"/>
              </a:defRPr>
            </a:pPr>
            <a:r>
              <a:t>Eat Street Kakinada • AI-Powered Multi-Vendor Marketplace • Confidential &amp; Proprietary</a:t>
            </a:r>
          </a:p>
        </p:txBody>
      </p:sp>
      <p:pic>
        <p:nvPicPr>
          <p:cNvPr id="7" name="Picture 6" descr="shop_bullet_bb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114800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  <a:ln w="19050">
            <a:solidFill>
              <a:srgbClr val="FF3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630936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5544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Segoe UI"/>
              </a:defRPr>
            </a:pPr>
            <a:r>
              <a:t>Stall Owner Operational Hub 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2024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⚡ Live Kitchen Order Display (KDS)</a:t>
            </a:r>
            <a:br/>
            <a:r>
              <a:rPr b="0" sz="1000">
                <a:solidFill>
                  <a:srgbClr val="AAB4C3"/>
                </a:solidFill>
              </a:rPr>
              <a:t>Orders flash in real-time with acoustic alerts, items, addons, customer notes, and fulfillment mode (Takeaway / Dine-In / Delivery).</a:t>
            </a:r>
          </a:p>
          <a:p>
            <a:pPr>
              <a:spcAft>
                <a:spcPts val="8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⚡ Single-Click Order Status Progression</a:t>
            </a:r>
            <a:br/>
            <a:r>
              <a:rPr b="0" sz="1000">
                <a:solidFill>
                  <a:srgbClr val="AAB4C3"/>
                </a:solidFill>
              </a:rPr>
              <a:t>Four-stage pipeline: 'Pending' ➔ 'Preparing' ➔ 'Ready for Pickup' ➔ 'Completed' with live customer SMS/Web updates.</a:t>
            </a:r>
          </a:p>
          <a:p>
            <a:pPr>
              <a:spcAft>
                <a:spcPts val="8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⚡ Menu &amp; Inventory CRUD Suite</a:t>
            </a:r>
            <a:br/>
            <a:r>
              <a:rPr b="0" sz="1000">
                <a:solidFill>
                  <a:srgbClr val="AAB4C3"/>
                </a:solidFill>
              </a:rPr>
              <a:t>Instant item price updates, description edits, food photo uploads, and 'Sold Out' toggle to prevent ordering unavailable dishes.</a:t>
            </a:r>
          </a:p>
          <a:p>
            <a:pPr>
              <a:spcAft>
                <a:spcPts val="8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⚡ Financial &amp; Settlement Reports</a:t>
            </a:r>
            <a:br/>
            <a:r>
              <a:rPr b="0" sz="1000">
                <a:solidFill>
                  <a:srgbClr val="AAB4C3"/>
                </a:solidFill>
              </a:rPr>
              <a:t>Daily / Weekly gross sales, commission deductions (15%), net payouts, and item popularity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3B00"/>
                </a:solidFill>
                <a:latin typeface="Segoe UI"/>
              </a:defRPr>
            </a:pPr>
            <a:r>
              <a:t>07. TECHNICAL STACK &amp;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Technology Stack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  <a:latin typeface="Segoe UI"/>
              </a:defRPr>
            </a:pPr>
            <a:r>
              <a:t>Eat Street Kakinada • AI-Powered Multi-Vendor Marketplace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60604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606040" cy="548640"/>
          </a:xfrm>
          <a:prstGeom prst="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Segoe UI"/>
              </a:defRPr>
            </a:pPr>
            <a:r>
              <a:t>Backend Framework 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Language:</a:t>
            </a:r>
            <a:br/>
            <a:r>
              <a:rPr b="0" sz="950">
                <a:solidFill>
                  <a:srgbClr val="AAB4C3"/>
                </a:solidFill>
              </a:rPr>
              <a:t>Python 3.13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Framework:</a:t>
            </a:r>
            <a:br/>
            <a:r>
              <a:rPr b="0" sz="950">
                <a:solidFill>
                  <a:srgbClr val="AAB4C3"/>
                </a:solidFill>
              </a:rPr>
              <a:t>Flask 3.0+ Microframework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ORM:</a:t>
            </a:r>
            <a:br/>
            <a:r>
              <a:rPr b="0" sz="950">
                <a:solidFill>
                  <a:srgbClr val="AAB4C3"/>
                </a:solidFill>
              </a:rPr>
              <a:t>Flask-SQLAlchemy (SQLite)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Auth &amp; Session:</a:t>
            </a:r>
            <a:br/>
            <a:r>
              <a:rPr b="0" sz="950">
                <a:solidFill>
                  <a:srgbClr val="AAB4C3"/>
                </a:solidFill>
              </a:rPr>
              <a:t>Flask-Login &amp; Flask-Bcrypt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Form Protection:</a:t>
            </a:r>
            <a:br/>
            <a:r>
              <a:rPr b="0" sz="950">
                <a:solidFill>
                  <a:srgbClr val="AAB4C3"/>
                </a:solidFill>
              </a:rPr>
              <a:t>Flask-WTF / CSRF Protect
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60604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371600"/>
            <a:ext cx="26060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46304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00000"/>
                </a:solidFill>
                <a:latin typeface="Segoe UI"/>
              </a:defRPr>
            </a:pPr>
            <a:r>
              <a:t>AI &amp; Multilingual 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1168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LLM Engine:</a:t>
            </a:r>
            <a:br/>
            <a:r>
              <a:rPr b="0" sz="950">
                <a:solidFill>
                  <a:srgbClr val="AAB4C3"/>
                </a:solidFill>
              </a:rPr>
              <a:t>Meta Llama 3 8B Parameters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Local Runtime:</a:t>
            </a:r>
            <a:br/>
            <a:r>
              <a:rPr b="0" sz="950">
                <a:solidFill>
                  <a:srgbClr val="AAB4C3"/>
                </a:solidFill>
              </a:rPr>
              <a:t>Ollama Local REST Service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Supported Langs:</a:t>
            </a:r>
            <a:br/>
            <a:r>
              <a:rPr b="0" sz="950">
                <a:solidFill>
                  <a:srgbClr val="AAB4C3"/>
                </a:solidFill>
              </a:rPr>
              <a:t>Telugu, Hindi, English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Fallback:</a:t>
            </a:r>
            <a:br/>
            <a:r>
              <a:rPr b="0" sz="950">
                <a:solidFill>
                  <a:srgbClr val="AAB4C3"/>
                </a:solidFill>
              </a:rPr>
              <a:t>Semantic Regex Keyword Matcher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Response Time:</a:t>
            </a:r>
            <a:br/>
            <a:r>
              <a:rPr b="0" sz="950">
                <a:solidFill>
                  <a:srgbClr val="AAB4C3"/>
                </a:solidFill>
              </a:rPr>
              <a:t>&lt; 800ms Average Latency
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60604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06040" cy="5486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00000"/>
                </a:solidFill>
                <a:latin typeface="Segoe UI"/>
              </a:defRPr>
            </a:pPr>
            <a:r>
              <a:t>Frontend &amp; UX 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01168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Markup &amp; Style:</a:t>
            </a:r>
            <a:br/>
            <a:r>
              <a:rPr b="0" sz="950">
                <a:solidFill>
                  <a:srgbClr val="AAB4C3"/>
                </a:solidFill>
              </a:rPr>
              <a:t>HTML5 &amp; CSS3 Glassmorphism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Icons:</a:t>
            </a:r>
            <a:br/>
            <a:r>
              <a:rPr b="0" sz="950">
                <a:solidFill>
                  <a:srgbClr val="AAB4C3"/>
                </a:solidFill>
              </a:rPr>
              <a:t>Remix Icons 4.0 Suite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Interactivity:</a:t>
            </a:r>
            <a:br/>
            <a:r>
              <a:rPr b="0" sz="950">
                <a:solidFill>
                  <a:srgbClr val="AAB4C3"/>
                </a:solidFill>
              </a:rPr>
              <a:t>Vanilla JS (Zero Framework Bloat)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Responsive:</a:t>
            </a:r>
            <a:br/>
            <a:r>
              <a:rPr b="0" sz="950">
                <a:solidFill>
                  <a:srgbClr val="AAB4C3"/>
                </a:solidFill>
              </a:rPr>
              <a:t>Mobile-First Grid &amp; Flexbox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Typography:</a:t>
            </a:r>
            <a:br/>
            <a:r>
              <a:rPr b="0" sz="950">
                <a:solidFill>
                  <a:srgbClr val="AAB4C3"/>
                </a:solidFill>
              </a:rPr>
              <a:t>Playfair Display &amp; Poppins
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371600"/>
            <a:ext cx="260604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1371600"/>
            <a:ext cx="2606040" cy="54864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46304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00000"/>
                </a:solidFill>
                <a:latin typeface="Segoe UI"/>
              </a:defRPr>
            </a:pPr>
            <a:r>
              <a:t>Communication &amp; DevOps 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01168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Email Protocol:</a:t>
            </a:r>
            <a:br/>
            <a:r>
              <a:rPr b="0" sz="950">
                <a:solidFill>
                  <a:srgbClr val="AAB4C3"/>
                </a:solidFill>
              </a:rPr>
              <a:t>Python SMTPLib over TLS 587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Mail Server:</a:t>
            </a:r>
            <a:br/>
            <a:r>
              <a:rPr b="0" sz="950">
                <a:solidFill>
                  <a:srgbClr val="AAB4C3"/>
                </a:solidFill>
              </a:rPr>
              <a:t>smtp.gmail.com (App Password)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Config Loader:</a:t>
            </a:r>
            <a:br/>
            <a:r>
              <a:rPr b="0" sz="950">
                <a:solidFill>
                  <a:srgbClr val="AAB4C3"/>
                </a:solidFill>
              </a:rPr>
              <a:t>python-dotenv (override=True)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Unit Testing:</a:t>
            </a:r>
            <a:br/>
            <a:r>
              <a:rPr b="0" sz="950">
                <a:solidFill>
                  <a:srgbClr val="AAB4C3"/>
                </a:solidFill>
              </a:rPr>
              <a:t>Python unittest framework
</a:t>
            </a:r>
          </a:p>
          <a:p>
            <a:pPr>
              <a:spcAft>
                <a:spcPts val="4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Codebase Structure:</a:t>
            </a:r>
            <a:br/>
            <a:r>
              <a:rPr b="0" sz="950">
                <a:solidFill>
                  <a:srgbClr val="AAB4C3"/>
                </a:solidFill>
              </a:rPr>
              <a:t>Modular Flask Blueprints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3B00"/>
                </a:solidFill>
                <a:latin typeface="Segoe UI"/>
              </a:defRPr>
            </a:pPr>
            <a:r>
              <a:t>08. DATABASE DESIGN &amp; ENTITY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Relational Database Schema &amp; Data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  <a:latin typeface="Segoe UI"/>
              </a:defRPr>
            </a:pPr>
            <a:r>
              <a:t>Eat Street Kakinada • AI-Powered Multi-Vendor Marketplace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Segoe UI"/>
              </a:defRPr>
            </a:pPr>
            <a:r>
              <a:t>SQLAlchemy Relational Models (SQLite)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📦 User (Customer/Vendor/Admin)</a:t>
            </a:r>
            <a:br/>
            <a:r>
              <a:rPr b="0" sz="950">
                <a:solidFill>
                  <a:srgbClr val="AAB4C3"/>
                </a:solidFill>
              </a:rPr>
              <a:t>    Attributes: id, name, email, phone, password_hash, role, is_active, created_at
</a:t>
            </a:r>
          </a:p>
          <a:p>
            <a:pPr>
              <a:spcAft>
                <a:spcPts val="4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📦 Shop (Food Court Stalls)</a:t>
            </a:r>
            <a:br/>
            <a:r>
              <a:rPr b="0" sz="950">
                <a:solidFill>
                  <a:srgbClr val="AAB4C3"/>
                </a:solidFill>
              </a:rPr>
              <a:t>    Attributes: id, name, owner_id, category, description, image_url, is_open, rating, commission_rate
</a:t>
            </a:r>
          </a:p>
          <a:p>
            <a:pPr>
              <a:spcAft>
                <a:spcPts val="4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📦 MenuItem (Dishes &amp; Drinks)</a:t>
            </a:r>
            <a:br/>
            <a:r>
              <a:rPr b="0" sz="950">
                <a:solidFill>
                  <a:srgbClr val="AAB4C3"/>
                </a:solidFill>
              </a:rPr>
              <a:t>    Attributes: id, shop_id, name, description, price, category, is_veg, is_available, image_url
</a:t>
            </a:r>
          </a:p>
          <a:p>
            <a:pPr>
              <a:spcAft>
                <a:spcPts val="4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📦 Order (Multi-Vendor Orders)</a:t>
            </a:r>
            <a:br/>
            <a:r>
              <a:rPr b="0" sz="950">
                <a:solidFill>
                  <a:srgbClr val="AAB4C3"/>
                </a:solidFill>
              </a:rPr>
              <a:t>    Attributes: id, user_id, order_type, total_amount, commission_fee, status, delivery_address, created_at
</a:t>
            </a:r>
          </a:p>
          <a:p>
            <a:pPr>
              <a:spcAft>
                <a:spcPts val="4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📦 OrderItem (Order Line Items)</a:t>
            </a:r>
            <a:br/>
            <a:r>
              <a:rPr b="0" sz="950">
                <a:solidFill>
                  <a:srgbClr val="AAB4C3"/>
                </a:solidFill>
              </a:rPr>
              <a:t>    Attributes: id, order_id, menu_item_id, shop_id, quantity, price, special_instructions
</a:t>
            </a:r>
          </a:p>
          <a:p>
            <a:pPr>
              <a:spcAft>
                <a:spcPts val="4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📦 TableReservation (Dine-In)</a:t>
            </a:r>
            <a:br/>
            <a:r>
              <a:rPr b="0" sz="950">
                <a:solidFill>
                  <a:srgbClr val="AAB4C3"/>
                </a:solidFill>
              </a:rPr>
              <a:t>    Attributes: id, user_id, shop_id, table_number, reservation_time, guest_count, status, pre_order_id
</a:t>
            </a:r>
          </a:p>
          <a:p>
            <a:pPr>
              <a:spcAft>
                <a:spcPts val="400"/>
              </a:spcAft>
              <a:defRPr b="1" sz="1100">
                <a:solidFill>
                  <a:srgbClr val="FFAA00"/>
                </a:solidFill>
                <a:latin typeface="Segoe UI"/>
              </a:defRPr>
            </a:pPr>
            <a:r>
              <a:t>📦 Review (Ratings &amp; Feedback)</a:t>
            </a:r>
            <a:br/>
            <a:r>
              <a:rPr b="0" sz="950">
                <a:solidFill>
                  <a:srgbClr val="AAB4C3"/>
                </a:solidFill>
              </a:rPr>
              <a:t>    Attributes: id, user_id, shop_id, rating (1-5), comment, created_at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3B00"/>
                </a:solidFill>
                <a:latin typeface="Segoe UI"/>
              </a:defRPr>
            </a:pPr>
            <a:r>
              <a:t>09. VERIFICATION, METRICS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Testing &amp; Quality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  <a:latin typeface="Segoe UI"/>
              </a:defRPr>
            </a:pPr>
            <a:r>
              <a:t>Eat Street Kakinada • AI-Powered Multi-Vendor Marketplace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Segoe UI"/>
              </a:defRPr>
            </a:pPr>
            <a:r>
              <a:t>Automated Test Suite (100% Passed) 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0E676"/>
                </a:solidFill>
                <a:latin typeface="Segoe UI"/>
              </a:defRPr>
            </a:pPr>
            <a:r>
              <a:t>✅ Authentication &amp; Session Security: </a:t>
            </a:r>
            <a:r>
              <a:rPr b="0" sz="1000">
                <a:solidFill>
                  <a:srgbClr val="AAB4C3"/>
                </a:solidFill>
              </a:rPr>
              <a:t>Verified user registration, Bcrypt verification, security challenge CAPTCHAs, and session expiration.</a:t>
            </a:r>
          </a:p>
          <a:p>
            <a:pPr>
              <a:spcAft>
                <a:spcPts val="800"/>
              </a:spcAft>
              <a:defRPr b="1" sz="1100">
                <a:solidFill>
                  <a:srgbClr val="00E676"/>
                </a:solidFill>
                <a:latin typeface="Segoe UI"/>
              </a:defRPr>
            </a:pPr>
            <a:r>
              <a:t>✅ Multi-Vendor Cart Operations: </a:t>
            </a:r>
            <a:r>
              <a:rPr b="0" sz="1000">
                <a:solidFill>
                  <a:srgbClr val="AAB4C3"/>
                </a:solidFill>
              </a:rPr>
              <a:t>Tested multi-item addition from different stalls, quantity modification, and dynamic total calculation.</a:t>
            </a:r>
          </a:p>
          <a:p>
            <a:pPr>
              <a:spcAft>
                <a:spcPts val="800"/>
              </a:spcAft>
              <a:defRPr b="1" sz="1100">
                <a:solidFill>
                  <a:srgbClr val="00E676"/>
                </a:solidFill>
                <a:latin typeface="Segoe UI"/>
              </a:defRPr>
            </a:pPr>
            <a:r>
              <a:t>✅ Live Gmail SMTP OTP Pipeline: </a:t>
            </a:r>
            <a:r>
              <a:rPr b="0" sz="1000">
                <a:solidFill>
                  <a:srgbClr val="AAB4C3"/>
                </a:solidFill>
              </a:rPr>
              <a:t>Validated SMTP connection over TLS 587, password formatting, email delivery, and OTP verification.</a:t>
            </a:r>
          </a:p>
          <a:p>
            <a:pPr>
              <a:spcAft>
                <a:spcPts val="800"/>
              </a:spcAft>
              <a:defRPr b="1" sz="1100">
                <a:solidFill>
                  <a:srgbClr val="00E676"/>
                </a:solidFill>
                <a:latin typeface="Segoe UI"/>
              </a:defRPr>
            </a:pPr>
            <a:r>
              <a:t>✅ Order Workflow &amp; Commission Splits: </a:t>
            </a:r>
            <a:r>
              <a:rPr b="0" sz="1000">
                <a:solidFill>
                  <a:srgbClr val="AAB4C3"/>
                </a:solidFill>
              </a:rPr>
              <a:t>Tested order placement for Takeaway, Dine-In, Delivery with commission deductions.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Segoe UI"/>
              </a:defRPr>
            </a:pPr>
            <a:r>
              <a:t>Performance &amp; Robustness Highlights 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0D2FF"/>
                </a:solidFill>
                <a:latin typeface="Segoe UI"/>
              </a:defRPr>
            </a:pPr>
            <a:r>
              <a:t>🚀 Sub-Second Page Load Times: </a:t>
            </a:r>
            <a:r>
              <a:rPr b="0" sz="1000">
                <a:solidFill>
                  <a:srgbClr val="AAB4C3"/>
                </a:solidFill>
              </a:rPr>
              <a:t>Optimized static asset bundling, compressed food images, and zero heavy frontend dependencies.</a:t>
            </a:r>
          </a:p>
          <a:p>
            <a:pPr>
              <a:spcAft>
                <a:spcPts val="800"/>
              </a:spcAft>
              <a:defRPr b="1" sz="1100">
                <a:solidFill>
                  <a:srgbClr val="00D2FF"/>
                </a:solidFill>
                <a:latin typeface="Segoe UI"/>
              </a:defRPr>
            </a:pPr>
            <a:r>
              <a:t>🚀 Zero-Downtime Environment Reload: </a:t>
            </a:r>
            <a:r>
              <a:rPr b="0" sz="1000">
                <a:solidFill>
                  <a:srgbClr val="AAB4C3"/>
                </a:solidFill>
              </a:rPr>
              <a:t>Dynamic .env reloading enables live credential updates without server restarts.</a:t>
            </a:r>
          </a:p>
          <a:p>
            <a:pPr>
              <a:spcAft>
                <a:spcPts val="800"/>
              </a:spcAft>
              <a:defRPr b="1" sz="1100">
                <a:solidFill>
                  <a:srgbClr val="00D2FF"/>
                </a:solidFill>
                <a:latin typeface="Segoe UI"/>
              </a:defRPr>
            </a:pPr>
            <a:r>
              <a:t>🚀 Secure Error &amp; Edge Case Handling: </a:t>
            </a:r>
            <a:r>
              <a:rPr b="0" sz="1000">
                <a:solidFill>
                  <a:srgbClr val="AAB4C3"/>
                </a:solidFill>
              </a:rPr>
              <a:t>Protected against empty carts, expired OTPs, timing attacks, and unauthenticated routes.</a:t>
            </a:r>
          </a:p>
          <a:p>
            <a:pPr>
              <a:spcAft>
                <a:spcPts val="800"/>
              </a:spcAft>
              <a:defRPr b="1" sz="1100">
                <a:solidFill>
                  <a:srgbClr val="00D2FF"/>
                </a:solidFill>
                <a:latin typeface="Segoe UI"/>
              </a:defRPr>
            </a:pPr>
            <a:r>
              <a:t>🚀 Mobile &amp; Desktop Cross-Browser Responsive: </a:t>
            </a:r>
            <a:r>
              <a:rPr b="0" sz="1000">
                <a:solidFill>
                  <a:srgbClr val="AAB4C3"/>
                </a:solidFill>
              </a:rPr>
              <a:t>Flawless rendering on Chrome, Safari, Edge, Firefox, Android, and iOS viewports.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3B00"/>
                </a:solidFill>
                <a:latin typeface="Segoe UI"/>
              </a:defRPr>
            </a:pPr>
            <a:r>
              <a:t>10. FUTURE ENHANCEMENTS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Future Roadmap &amp;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  <a:latin typeface="Segoe UI"/>
              </a:defRPr>
            </a:pPr>
            <a:r>
              <a:t>Eat Street Kakinada • AI-Powered Multi-Vendor Marketplace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60604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606040" cy="640080"/>
          </a:xfrm>
          <a:prstGeom prst="round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000000"/>
                </a:solidFill>
                <a:latin typeface="Segoe UI"/>
              </a:defRPr>
            </a:pPr>
            <a:r>
              <a:t>Phase 1: UPI Gateway 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AB4C3"/>
                </a:solidFill>
                <a:latin typeface="Segoe UI"/>
              </a:defRPr>
            </a:pPr>
            <a:r>
              <a:t>Direct Razorpay / PhonePe QR automated settlements &amp; instant vendor bank payouts.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60604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606040" cy="64008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46304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000000"/>
                </a:solidFill>
                <a:latin typeface="Segoe UI"/>
              </a:defRPr>
            </a:pPr>
            <a:r>
              <a:t>Phase 2: WhatsApp Bot 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AB4C3"/>
                </a:solidFill>
                <a:latin typeface="Segoe UI"/>
              </a:defRPr>
            </a:pPr>
            <a:r>
              <a:t>Allow customers to browse menus, chat with AI, and order directly via WhatsApp Business 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60604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371600"/>
            <a:ext cx="2606040" cy="640080"/>
          </a:xfrm>
          <a:prstGeom prst="round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FFFFF"/>
                </a:solidFill>
                <a:latin typeface="Segoe UI"/>
              </a:defRPr>
            </a:pPr>
            <a:r>
              <a:t>Phase 3: Live GPS Tracking 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9456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AB4C3"/>
                </a:solidFill>
                <a:latin typeface="Segoe UI"/>
              </a:defRPr>
            </a:pPr>
            <a:r>
              <a:t>WebSocket-powered live map tracking for delivery riders from Eat Street to customer doors.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371600"/>
            <a:ext cx="260604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23960" y="1371600"/>
            <a:ext cx="2606040" cy="6400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46304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000000"/>
                </a:solidFill>
                <a:latin typeface="Segoe UI"/>
              </a:defRPr>
            </a:pPr>
            <a:r>
              <a:t>Phase 4: Telugu Voice AI 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19456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AB4C3"/>
                </a:solidFill>
                <a:latin typeface="Segoe UI"/>
              </a:defRPr>
            </a:pPr>
            <a:r>
              <a:t>Voice-to-text AI ordering enabling customers to speak orders in natural colloquial Telugu.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3B00"/>
                </a:solidFill>
                <a:latin typeface="Segoe UI"/>
              </a:defRPr>
            </a:pPr>
            <a:r>
              <a:t>11. PROJECT CONCLUSION &amp;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Conclusion &amp;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8291"/>
                </a:solidFill>
                <a:latin typeface="Segoe UI"/>
              </a:defRPr>
            </a:pPr>
            <a:r>
              <a:t>Eat Street Kakinada • AI-Powered Multi-Vendor Marketplace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48640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B00"/>
                </a:solidFill>
                <a:latin typeface="Segoe UI"/>
              </a:defRPr>
            </a:pPr>
            <a:r>
              <a:t>Transforming Kakinada Food Culture 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FF3B00"/>
                </a:solidFill>
                <a:latin typeface="Segoe UI"/>
              </a:defRPr>
            </a:pPr>
            <a:r>
              <a:t>🌟 Empowering Local Vendors: </a:t>
            </a:r>
            <a:r>
              <a:rPr b="0" sz="1000">
                <a:solidFill>
                  <a:srgbClr val="AAB4C3"/>
                </a:solidFill>
              </a:rPr>
              <a:t>Brings traditional Kakinada street food stalls onto a modern digital marketplace with zero high-commission aggregator lock-in.</a:t>
            </a:r>
          </a:p>
          <a:p>
            <a:pPr>
              <a:spcAft>
                <a:spcPts val="800"/>
              </a:spcAft>
              <a:defRPr b="1" sz="1100">
                <a:solidFill>
                  <a:srgbClr val="FF3B00"/>
                </a:solidFill>
                <a:latin typeface="Segoe UI"/>
              </a:defRPr>
            </a:pPr>
            <a:r>
              <a:t>🌟 Delighting Foodies: </a:t>
            </a:r>
            <a:r>
              <a:rPr b="0" sz="1000">
                <a:solidFill>
                  <a:srgbClr val="AAB4C3"/>
                </a:solidFill>
              </a:rPr>
              <a:t>Gives consumers a single unified cart, express queue-skip takeaway, and smart table booking with AI recommendations.</a:t>
            </a:r>
          </a:p>
          <a:p>
            <a:pPr>
              <a:spcAft>
                <a:spcPts val="800"/>
              </a:spcAft>
              <a:defRPr b="1" sz="1100">
                <a:solidFill>
                  <a:srgbClr val="FF3B00"/>
                </a:solidFill>
                <a:latin typeface="Segoe UI"/>
              </a:defRPr>
            </a:pPr>
            <a:r>
              <a:t>🌟 Robust Engineering: </a:t>
            </a:r>
            <a:r>
              <a:rPr b="0" sz="1000">
                <a:solidFill>
                  <a:srgbClr val="AAB4C3"/>
                </a:solidFill>
              </a:rPr>
              <a:t>Built on secure Flask blueprints, Bcrypt password hashing, live Gmail SMTP OTP dispatch, and local Llama-3 AI intelligence.</a:t>
            </a:r>
          </a:p>
          <a:p>
            <a:pPr>
              <a:spcAft>
                <a:spcPts val="800"/>
              </a:spcAft>
              <a:defRPr b="1" sz="1100">
                <a:solidFill>
                  <a:srgbClr val="FF3B00"/>
                </a:solidFill>
                <a:latin typeface="Segoe UI"/>
              </a:defRPr>
            </a:pPr>
            <a:r>
              <a:t>🌟 Scalable Foundation: </a:t>
            </a:r>
            <a:r>
              <a:rPr b="0" sz="1000">
                <a:solidFill>
                  <a:srgbClr val="AAB4C3"/>
                </a:solidFill>
              </a:rPr>
              <a:t>Ready for deployment on cloud servers (AWS/GCP/DigitalOcean) with SQLite to PostgreSQL migration 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371600"/>
            <a:ext cx="4937760" cy="4754880"/>
          </a:xfrm>
          <a:prstGeom prst="roundRect">
            <a:avLst/>
          </a:prstGeom>
          <a:solidFill>
            <a:srgbClr val="1C222C"/>
          </a:solidFill>
          <a:ln w="12700">
            <a:solidFill>
              <a:srgbClr val="FF3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at-street-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54480"/>
            <a:ext cx="457200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0" y="402336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FFFFFF"/>
                </a:solidFill>
                <a:latin typeface="Segoe UI"/>
              </a:defRPr>
            </a:pPr>
            <a:r>
              <a:t>THANK YOU! 🙏</a:t>
            </a:r>
          </a:p>
          <a:p>
            <a:pPr algn="ctr">
              <a:defRPr sz="1200">
                <a:solidFill>
                  <a:srgbClr val="FFAA00"/>
                </a:solidFill>
                <a:latin typeface="Segoe UI"/>
              </a:defRPr>
            </a:pPr>
            <a:r>
              <a:t>Eat Street Kakinada • The Taste of Kakinada</a:t>
            </a:r>
            <a:br/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